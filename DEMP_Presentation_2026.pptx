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914400"/>
            <a:ext cx="5029200" cy="5029200"/>
          </a:xfrm>
          <a:prstGeom prst="ellipse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Digital Event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A6A6"/>
                </a:solidFill>
                <a:latin typeface="Calibri"/>
              </a:rPr>
              <a:t>Platform (DEMP)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0BE"/>
                </a:solidFill>
                <a:latin typeface="Calibri"/>
              </a:rPr>
              <a:t>Microservices-Based Smart Event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7D2E2"/>
                </a:solidFill>
                <a:latin typeface="Calibri"/>
              </a:rPr>
              <a:t>Team: Alaikya Sudhakar Yemul  |  Guide: [Guide Name]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Calibri"/>
              </a:rPr>
              <a:t>Wipro Technologies  |  Full-Stack Microservices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6A6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03520" cy="5120640"/>
          </a:xfrm>
          <a:prstGeom prst="rect">
            <a:avLst/>
          </a:prstGeom>
          <a:solidFill>
            <a:srgbClr val="1C2541"/>
          </a:solidFill>
          <a:ln w="190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Calibri"/>
              </a:rPr>
              <a:t>⚠  Current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🔴  Event operations spread across disconnected tools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🔴  Manual coordination causes delays &amp; data gaps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🔴  No real-time visibility for organizers &amp; admins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🔴  Repeated effort in ticket, payment &amp; notification flows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🔴  Lack of analytics for data-driven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5120640"/>
          </a:xfrm>
          <a:prstGeom prst="rect">
            <a:avLst/>
          </a:prstGeom>
          <a:solidFill>
            <a:srgbClr val="1C2541"/>
          </a:solidFill>
          <a:ln w="1905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C0BE"/>
                </a:solidFill>
                <a:latin typeface="Calibri"/>
              </a:rPr>
              <a:t>🎯  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✅  Build one unified event lifecycle platform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✅  Enable role-based workflows (Admin / Organizer / User)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✅  Implement secure login, booking &amp; payment flow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✅  Design scalable microservices architecture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C7D2E2"/>
                </a:solidFill>
                <a:latin typeface="Calibri"/>
              </a:rPr>
              <a:t>✅  Integrate AI chatbot for instant user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6A6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3657600" cy="21031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7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⚛ 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Dynamic role-based web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097280"/>
            <a:ext cx="3657600" cy="21031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07007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☕ 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Java 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10 independent microservices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097280"/>
            <a:ext cx="3657600" cy="21031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207007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🗄 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Relational transactional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66160"/>
            <a:ext cx="3657600" cy="21031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75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🔍 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Eureka Server  (8761)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Dynamic service registration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566160"/>
            <a:ext cx="3657600" cy="21031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675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🌐  API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Spring Cloud Gateway  (8080)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663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Centralised routing &amp; CORS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566160"/>
            <a:ext cx="3657600" cy="21031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675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🤖  AI Chatbot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Python FastAPI +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63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ChromaDB + Ollama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6A6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686800" cy="822960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React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User, Organizer, Admin — http://localhost:3000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514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A6A6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38528"/>
            <a:ext cx="8686800" cy="822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API Gateway  (port 8080)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Routing · CORS · Security · Load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5783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A6A6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71216"/>
            <a:ext cx="8686800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Eureka Service Discovery  (8761)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1012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Dynamic service registration &amp; health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9051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A6A6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03904"/>
            <a:ext cx="8686800" cy="82296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770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Microservices  (8083 · 8084 · 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42816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user · admin · event · ticket · payment · 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62320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A6A6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36592"/>
            <a:ext cx="8686800" cy="822960"/>
          </a:xfrm>
          <a:prstGeom prst="rect">
            <a:avLst/>
          </a:prstGeom>
          <a:solidFill>
            <a:srgbClr val="1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097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MySQL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75504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2"/>
                </a:solidFill>
                <a:latin typeface="Calibri"/>
              </a:rPr>
              <a:t>Transactional persistence for all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005840"/>
            <a:ext cx="2514600" cy="4297680"/>
          </a:xfrm>
          <a:prstGeom prst="rect">
            <a:avLst/>
          </a:prstGeom>
          <a:solidFill>
            <a:srgbClr val="1C2541"/>
          </a:solidFill>
          <a:ln w="1905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0972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BC0BE"/>
                </a:solidFill>
                <a:latin typeface="Calibri"/>
              </a:rPr>
              <a:t>🤖 AI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160020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7D2E2"/>
                </a:solidFill>
                <a:latin typeface="Calibri"/>
              </a:rPr>
              <a:t>FastAPI
RAG
ChromaDB
Ollama LLM
Port 8000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389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  <a:latin typeface="Calibri"/>
              </a:rPr>
              <a:t>↔ 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6A6"/>
                </a:solidFill>
                <a:latin typeface="Calibri"/>
              </a:rPr>
              <a:t>Key Modules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3657600" cy="24231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0BE"/>
                </a:solidFill>
                <a:latin typeface="Calibri"/>
              </a:rPr>
              <a:t>👤  User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Secure register &amp; login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JWT authentication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Role-based access control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Profile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051560"/>
            <a:ext cx="3657600" cy="24231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143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0BE"/>
                </a:solidFill>
                <a:latin typeface="Calibri"/>
              </a:rPr>
              <a:t>📅  Event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1848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Create &amp; publish events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Manage event details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Speaker &amp; venue setup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Organizer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19" y="1051560"/>
            <a:ext cx="3657600" cy="24231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143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0BE"/>
                </a:solidFill>
                <a:latin typeface="Calibri"/>
              </a:rPr>
              <a:t>🎟  Ticket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1848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Ticket inventory control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Booking &amp; confirmation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Ticket PDF generation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Booking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57600"/>
            <a:ext cx="3657600" cy="24231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0BE"/>
                </a:solidFill>
                <a:latin typeface="Calibri"/>
              </a:rPr>
              <a:t>💳  Payment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245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Transaction processing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Payment status tracking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Order management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Revenue 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657600"/>
            <a:ext cx="3657600" cy="24231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0BE"/>
                </a:solidFill>
                <a:latin typeface="Calibri"/>
              </a:rPr>
              <a:t>🔔  Notification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2245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Booking confirmations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Event reminders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Admin alerts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System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3657600"/>
            <a:ext cx="3657600" cy="242316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0BE"/>
                </a:solidFill>
                <a:latin typeface="Calibri"/>
              </a:rPr>
              <a:t>📊  Analytics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245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Platform overview metrics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Event performance data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User growth tracking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7D2E2"/>
                </a:solidFill>
                <a:latin typeface="Calibri"/>
              </a:rPr>
              <a:t>• Export-ready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6A6"/>
                </a:solidFill>
                <a:latin typeface="Calibri"/>
              </a:rPr>
              <a:t>End-to-End Demo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783080" cy="3840480"/>
          </a:xfrm>
          <a:prstGeom prst="rect">
            <a:avLst/>
          </a:prstGeom>
          <a:solidFill>
            <a:srgbClr val="1C2541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59" y="1097280"/>
            <a:ext cx="685800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115568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Register /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7D2E2"/>
                </a:solidFill>
                <a:latin typeface="Calibri"/>
              </a:rPr>
              <a:t>User signs up or logs in
JWT token issued for secure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6A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1991" y="1005840"/>
            <a:ext cx="1783080" cy="3840480"/>
          </a:xfrm>
          <a:prstGeom prst="rect">
            <a:avLst/>
          </a:prstGeom>
          <a:solidFill>
            <a:srgbClr val="1C2541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632" y="1097280"/>
            <a:ext cx="685800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1115568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19659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Browse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5603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7D2E2"/>
                </a:solidFill>
                <a:latin typeface="Calibri"/>
              </a:rPr>
              <a:t>Discover published events
Filter by date, type, organizer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6A6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9663" y="1005840"/>
            <a:ext cx="1783080" cy="3840480"/>
          </a:xfrm>
          <a:prstGeom prst="rect">
            <a:avLst/>
          </a:prstGeom>
          <a:solidFill>
            <a:srgbClr val="1C2541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303" y="1097280"/>
            <a:ext cx="685800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3" y="1115568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3" y="19659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Book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3" y="25603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7D2E2"/>
                </a:solidFill>
                <a:latin typeface="Calibri"/>
              </a:rPr>
              <a:t>Select event and confirm booking
Registration recorded in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464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6A6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7336" y="1005840"/>
            <a:ext cx="1783080" cy="3840480"/>
          </a:xfrm>
          <a:prstGeom prst="rect">
            <a:avLst/>
          </a:prstGeom>
          <a:solidFill>
            <a:srgbClr val="1C2541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65975" y="1097280"/>
            <a:ext cx="685800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5975" y="1115568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5" y="19659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Make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5" y="25603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7D2E2"/>
                </a:solidFill>
                <a:latin typeface="Calibri"/>
              </a:rPr>
              <a:t>Secure payment processing
Transaction status tracked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6A6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1005840"/>
            <a:ext cx="1783080" cy="3840480"/>
          </a:xfrm>
          <a:prstGeom prst="rect">
            <a:avLst/>
          </a:prstGeom>
          <a:solidFill>
            <a:srgbClr val="1C2541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13648" y="1097280"/>
            <a:ext cx="685800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1115568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19659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Get Confirmation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5603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7D2E2"/>
                </a:solidFill>
                <a:latin typeface="Calibri"/>
              </a:rPr>
              <a:t>Ticket + confirmation issued
Stored in My Tickets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6A6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1005840"/>
            <a:ext cx="1783080" cy="3840480"/>
          </a:xfrm>
          <a:prstGeom prst="rect">
            <a:avLst/>
          </a:prstGeom>
          <a:solidFill>
            <a:srgbClr val="1C2541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61319" y="1097280"/>
            <a:ext cx="685800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61319" y="1115568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19" y="19659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Chatbot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19" y="25603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7D2E2"/>
                </a:solidFill>
                <a:latin typeface="Calibri"/>
              </a:rPr>
              <a:t>EventMate AI answers questions
Instant FAQ cache or RAG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6A6"/>
                </a:solidFill>
                <a:latin typeface="Calibri"/>
              </a:rPr>
              <a:t>Results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560320" cy="1645920"/>
          </a:xfrm>
          <a:prstGeom prst="rect">
            <a:avLst/>
          </a:prstGeom>
          <a:solidFill>
            <a:srgbClr val="1C2541"/>
          </a:solidFill>
          <a:ln w="254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A6A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Registered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51560"/>
            <a:ext cx="2560320" cy="1645920"/>
          </a:xfrm>
          <a:prstGeom prst="rect">
            <a:avLst/>
          </a:prstGeom>
          <a:solidFill>
            <a:srgbClr val="1C2541"/>
          </a:solidFill>
          <a:ln w="254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188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5BC0BE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Events 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51560"/>
            <a:ext cx="2560320" cy="1645920"/>
          </a:xfrm>
          <a:prstGeom prst="rect">
            <a:avLst/>
          </a:prstGeom>
          <a:solidFill>
            <a:srgbClr val="1C2541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188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D166"/>
                </a:solidFill>
                <a:latin typeface="Calibri"/>
              </a:rPr>
              <a:t>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Registrations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051560"/>
            <a:ext cx="2560320" cy="1645920"/>
          </a:xfrm>
          <a:prstGeom prst="rect">
            <a:avLst/>
          </a:prstGeom>
          <a:solidFill>
            <a:srgbClr val="1C2541"/>
          </a:solidFill>
          <a:ln w="25400">
            <a:solidFill>
              <a:srgbClr val="A8D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188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8DAB5"/>
                </a:solidFill>
                <a:latin typeface="Calibri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Tickets Generated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394960" cy="3474720"/>
          </a:xfrm>
          <a:prstGeom prst="rect">
            <a:avLst/>
          </a:prstGeom>
          <a:solidFill>
            <a:srgbClr val="1C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63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6A6"/>
                </a:solidFill>
                <a:latin typeface="Calibri"/>
              </a:rPr>
              <a:t>✅  What Works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6616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Role-based platform with full event lifecycle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Microservices running with gateway &amp; discovery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Working chatbot with FAQ cache + RAG pipeline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End-to-end: login → booking → payment → ticket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Collapsible FAQ suggestion panel in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394960" cy="3474720"/>
          </a:xfrm>
          <a:prstGeom prst="rect">
            <a:avLst/>
          </a:prstGeom>
          <a:solidFill>
            <a:srgbClr val="1C2541"/>
          </a:solidFill>
          <a:ln w="127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0BE"/>
                </a:solidFill>
                <a:latin typeface="Calibri"/>
              </a:rPr>
              <a:t>📈  Business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Unified platform → reduced manual effort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Modular design → faster feature delivery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Gateway-first routing → better security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AI chatbot → reduced support queries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7D2E2"/>
                </a:solidFill>
                <a:latin typeface="Calibri"/>
              </a:rPr>
              <a:t>• Analytics foundation → data-driven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6A6"/>
                </a:solidFill>
                <a:latin typeface="Calibri"/>
              </a:rPr>
              <a:t>Challenges, Learnings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566160" cy="5212080"/>
          </a:xfrm>
          <a:prstGeom prst="rect">
            <a:avLst/>
          </a:prstGeom>
          <a:solidFill>
            <a:srgbClr val="1C2541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Calibri"/>
              </a:rPr>
              <a:t>⚠  Challenges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CORS duplicate header from
Gateway + service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69464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Service-to-service routing
with Eureka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44728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JWT auth alignment across
all 10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325112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Chatbot response latency
with large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202936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Database schema consistency
across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566160" cy="5212080"/>
          </a:xfrm>
          <a:prstGeom prst="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143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💡  Key Learnings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916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API Gateway is the single
best place for CORS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69464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Modular services improve
team &amp; deploy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44728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RAG + cache = best of both
speed &amp;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325112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Strong validation at system
boundaries prevents bugs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202936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Service discovery removes
hardcoded host dependency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005840"/>
            <a:ext cx="3749039" cy="5212080"/>
          </a:xfrm>
          <a:prstGeom prst="rect">
            <a:avLst/>
          </a:prstGeom>
          <a:solidFill>
            <a:srgbClr val="1C2541"/>
          </a:solidFill>
          <a:ln w="1905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143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0BE"/>
                </a:solidFill>
                <a:latin typeface="Calibri"/>
              </a:rPr>
              <a:t>🚀  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91640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Advanced analytics dashboard
&amp; scheduled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69464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Predictive event recommendations
for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44728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Chatbot action automation
(book, cancel via chat)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32511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Docker + Kubernetes for
cloud-native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20293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7D2E2"/>
                </a:solidFill>
                <a:latin typeface="Calibri"/>
              </a:rPr>
              <a:t>• OAuth2 social login
(Google, GitHub)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6A6"/>
                </a:solidFill>
                <a:latin typeface="Calibri"/>
              </a:rPr>
              <a:t>Live Demo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3657600" cy="2331720"/>
          </a:xfrm>
          <a:prstGeom prst="rect">
            <a:avLst/>
          </a:prstGeom>
          <a:solidFill>
            <a:srgbClr val="1C2541"/>
          </a:solidFill>
          <a:ln w="127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79" y="1188720"/>
            <a:ext cx="3474720" cy="1280160"/>
          </a:xfrm>
          <a:prstGeom prst="rect">
            <a:avLst/>
          </a:prstGeom>
          <a:solidFill>
            <a:srgbClr val="0F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[ SCREENSHOT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560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Login / Sign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D2E2"/>
                </a:solidFill>
                <a:latin typeface="Calibri"/>
              </a:rPr>
              <a:t>JWT authentication
Role selection on 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097280"/>
            <a:ext cx="3657600" cy="2331720"/>
          </a:xfrm>
          <a:prstGeom prst="rect">
            <a:avLst/>
          </a:prstGeom>
          <a:solidFill>
            <a:srgbClr val="1C2541"/>
          </a:solidFill>
          <a:ln w="127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1188720"/>
            <a:ext cx="3474720" cy="1280160"/>
          </a:xfrm>
          <a:prstGeom prst="rect">
            <a:avLst/>
          </a:prstGeom>
          <a:solidFill>
            <a:srgbClr val="0F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[ SCREENSHOT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560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Event Listing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D2E2"/>
                </a:solidFill>
                <a:latin typeface="Calibri"/>
              </a:rPr>
              <a:t>Browse &amp; filter events
Published by organizers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097280"/>
            <a:ext cx="3657600" cy="2331720"/>
          </a:xfrm>
          <a:prstGeom prst="rect">
            <a:avLst/>
          </a:prstGeom>
          <a:solidFill>
            <a:srgbClr val="1C2541"/>
          </a:solidFill>
          <a:ln w="127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59" y="1188720"/>
            <a:ext cx="3474720" cy="1280160"/>
          </a:xfrm>
          <a:prstGeom prst="rect">
            <a:avLst/>
          </a:prstGeom>
          <a:solidFill>
            <a:srgbClr val="0F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[ SCREENSHOT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560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Book &amp; 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D2E2"/>
                </a:solidFill>
                <a:latin typeface="Calibri"/>
              </a:rPr>
              <a:t>Ticket booking form
Payment confirmation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3657600" cy="2331720"/>
          </a:xfrm>
          <a:prstGeom prst="rect">
            <a:avLst/>
          </a:prstGeom>
          <a:solidFill>
            <a:srgbClr val="1C2541"/>
          </a:solidFill>
          <a:ln w="127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79" y="3840479"/>
            <a:ext cx="3474720" cy="1280160"/>
          </a:xfrm>
          <a:prstGeom prst="rect">
            <a:avLst/>
          </a:prstGeom>
          <a:solidFill>
            <a:srgbClr val="0F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1330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[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2120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My 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577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D2E2"/>
                </a:solidFill>
                <a:latin typeface="Calibri"/>
              </a:rPr>
              <a:t>View all confirmed
bookings and tickets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3749039"/>
            <a:ext cx="3657600" cy="2331720"/>
          </a:xfrm>
          <a:prstGeom prst="rect">
            <a:avLst/>
          </a:prstGeom>
          <a:solidFill>
            <a:srgbClr val="1C2541"/>
          </a:solidFill>
          <a:ln w="127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19" y="3840479"/>
            <a:ext cx="3474720" cy="1280160"/>
          </a:xfrm>
          <a:prstGeom prst="rect">
            <a:avLst/>
          </a:prstGeom>
          <a:solidFill>
            <a:srgbClr val="0F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19" y="41330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[ SCREENSHOT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52120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Admin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5577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D2E2"/>
                </a:solidFill>
                <a:latin typeface="Calibri"/>
              </a:rPr>
              <a:t>User management
Platform overview stats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3749039"/>
            <a:ext cx="3657600" cy="2331720"/>
          </a:xfrm>
          <a:prstGeom prst="rect">
            <a:avLst/>
          </a:prstGeom>
          <a:solidFill>
            <a:srgbClr val="1C2541"/>
          </a:solidFill>
          <a:ln w="12700"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59" y="3840479"/>
            <a:ext cx="3474720" cy="1280160"/>
          </a:xfrm>
          <a:prstGeom prst="rect">
            <a:avLst/>
          </a:prstGeom>
          <a:solidFill>
            <a:srgbClr val="0F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9" y="41330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77"/>
                </a:solidFill>
                <a:latin typeface="Calibri"/>
              </a:rPr>
              <a:t>[ SCREENSHOT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52120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EventMate Chatbot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5577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D2E2"/>
                </a:solidFill>
                <a:latin typeface="Calibri"/>
              </a:rPr>
              <a:t>FAQ instant answers
Suggestion chips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70248" y="1097280"/>
            <a:ext cx="3657600" cy="3657600"/>
          </a:xfrm>
          <a:prstGeom prst="ellipse">
            <a:avLst/>
          </a:prstGeom>
          <a:solidFill>
            <a:srgbClr val="1C2541"/>
          </a:solidFill>
          <a:ln w="317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5740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1546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A6A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7D2E2"/>
                </a:solidFill>
                <a:latin typeface="Calibri"/>
              </a:rPr>
              <a:t>Digital Event Management Platform  |  Microservices-new  | 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754880"/>
            <a:ext cx="7616952" cy="100584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C0BE"/>
                </a:solidFill>
                <a:latin typeface="Calibri"/>
              </a:rPr>
              <a:t>GitHub: AlaikyaSudhakarYemul / Digital-Event-Management-Platform-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1937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7D2E2"/>
                </a:solidFill>
                <a:latin typeface="Calibri"/>
              </a:rPr>
              <a:t>Branch: Microservices-new  |  Stack: React · Spring Boot · MySQL ·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7D2E2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